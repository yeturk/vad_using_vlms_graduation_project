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3.jpg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image" Target="../media/image4.jpg"/><Relationship Id="rId8" Type="http://schemas.microsoft.com/office/2007/relationships/media" Target="../media/media3.mp4"/><Relationship Id="rId9" Type="http://schemas.openxmlformats.org/officeDocument/2006/relationships/video" Target="../media/media3.mp4"/><Relationship Id="rId10" Type="http://schemas.openxmlformats.org/officeDocument/2006/relationships/image" Target="../media/image5.jpg"/><Relationship Id="rId11" Type="http://schemas.microsoft.com/office/2007/relationships/media" Target="../media/media4.mp4"/><Relationship Id="rId12" Type="http://schemas.openxmlformats.org/officeDocument/2006/relationships/video" Target="../media/media4.mp4"/><Relationship Id="rId13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CSE 496 · GRADUATION PROJECT · GEBZE TECHNICAL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874519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0F172A"/>
                </a:solidFill>
                <a:latin typeface="Calibri"/>
              </a:rPr>
              <a:t>Video Anomaly Detection 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563EB"/>
                </a:solidFill>
                <a:latin typeface="Calibri"/>
              </a:rPr>
              <a:t>Production / Assembly 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  <a:latin typeface="Calibri"/>
              </a:rPr>
              <a:t>A training-free, explainable approach using zero-shot Vision-Language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526280"/>
            <a:ext cx="4846320" cy="1417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526280"/>
            <a:ext cx="484632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70916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563EB"/>
                </a:solidFill>
                <a:latin typeface="Calibri"/>
              </a:rPr>
              <a:t>AUTHORS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02920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F172A"/>
                </a:solidFill>
                <a:latin typeface="Calibri"/>
              </a:rPr>
              <a:t>Alper Kaan Güler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F172A"/>
                </a:solidFill>
                <a:latin typeface="Calibri"/>
              </a:rPr>
              <a:t>Yunus Emre Türk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4526280"/>
            <a:ext cx="4846320" cy="1417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4526280"/>
            <a:ext cx="4846320" cy="8229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70916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59669"/>
                </a:solidFill>
                <a:latin typeface="Calibri"/>
              </a:rPr>
              <a:t>ADVISOR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02920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F172A"/>
                </a:solidFill>
                <a:latin typeface="Calibri"/>
              </a:rPr>
              <a:t>Asst. Prof. Habil Kalkan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Computer Engineering Dept.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18872" cy="6583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Calibri"/>
              </a:rPr>
              <a:t>Project Definition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106070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18872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We build a </a:t>
            </a:r>
            <a:r>
              <a:rPr sz="1500" b="1" i="0">
                <a:solidFill>
                  <a:srgbClr val="2563EB"/>
                </a:solidFill>
                <a:latin typeface="Calibri"/>
              </a:rPr>
              <a:t>training-free, explainable system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 that watches a production / assembly line and decides whether each video clip is </a:t>
            </a:r>
            <a:r>
              <a:rPr sz="1500" b="1" i="0">
                <a:solidFill>
                  <a:srgbClr val="0F172A"/>
                </a:solidFill>
                <a:latin typeface="Calibri"/>
              </a:rPr>
              <a:t>normal or anomalous — and explains why.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34640"/>
            <a:ext cx="525780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34640"/>
            <a:ext cx="525780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303580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172A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456432"/>
            <a:ext cx="4800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Detect line anomalies (wrong colour, orientation, missing part, belt stop, motion) without collecting or labelling any training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2834640"/>
            <a:ext cx="525780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79" y="2834640"/>
            <a:ext cx="5257800" cy="8229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303580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172A"/>
                </a:solidFill>
                <a:latin typeface="Calibri"/>
              </a:rPr>
              <a:t>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3456432"/>
            <a:ext cx="4800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Prompt a frozen Vision-Language Model (qwen3.6-plus) with the scene description, anomaly rules and learned guiding questions.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526280"/>
            <a:ext cx="525780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526280"/>
            <a:ext cx="5257800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1" y="472744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172A"/>
                </a:solidFill>
                <a:latin typeface="Calibri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5148072"/>
            <a:ext cx="4800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A clip-level verdict — normal vs anomaly — plus the anomaly type and a short, human-readable reason for the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79" y="4526280"/>
            <a:ext cx="525780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79" y="4526280"/>
            <a:ext cx="5257800" cy="8229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472744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172A"/>
                </a:solidFill>
                <a:latin typeface="Calibri"/>
              </a:rPr>
              <a:t>Key constraint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5148072"/>
            <a:ext cx="4800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Zero training, zero fine-tuning. The model adapts only through the prompt, so it re-targets to a new product via natural language.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VAD in Production/Assembly Lines  ·  Güler &amp; Türk  ·  CSE 496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18872" cy="6583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Calibri"/>
              </a:rPr>
              <a:t>Why classic computer vision struggles on the factory floor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3456432" cy="2331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3456432" cy="8229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82880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Data hunger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331720"/>
            <a:ext cx="2971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Classic detectors need thousands of labelled defect images. In an optimised factory, real defects are rare — collecting them is slow and costly.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600200"/>
            <a:ext cx="3456432" cy="2331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6552" y="1600200"/>
            <a:ext cx="3456432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182880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Retraining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2331720"/>
            <a:ext cx="2971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Every product or layout change forces a full re-train. We want a system that adapts from a natural-language spec, not new training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600200"/>
            <a:ext cx="3456432" cy="2331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5864" y="1600200"/>
            <a:ext cx="3456432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182880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Black 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331720"/>
            <a:ext cx="2971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Standard models flag an anomaly but cannot say WHY. Operators need a human-readable reason before they trust and act on an alarm.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24528"/>
            <a:ext cx="10607040" cy="137160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24528"/>
            <a:ext cx="118872" cy="1371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407408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59669"/>
                </a:solidFill>
                <a:latin typeface="Calibri"/>
              </a:rPr>
              <a:t>OUR APPROACH — ZERO-SHOT PROMPTING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006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Instead of training a detector, we prompt a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frozen Vision-Language Model (qwen3.6-plus)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 with the scene description and the anomaly rules. Zero training, full explainability.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VAD in Production/Assembly Lines  ·  Güler &amp; Türk  ·  CSE 496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18872" cy="6583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DATASET · WHY WE BUILT OUR 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Calibri"/>
              </a:rPr>
              <a:t>From a public benchmark to a dataset we can trust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4297680" cy="4160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4297680" cy="82296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5564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75569"/>
                </a:solidFill>
                <a:latin typeface="Calibri"/>
              </a:rPr>
              <a:t>PHASE 1 · STARTING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66543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IPAD benchmark — button conveyor</a:t>
            </a:r>
          </a:p>
        </p:txBody>
      </p:sp>
      <p:pic>
        <p:nvPicPr>
          <p:cNvPr id="9" name="Picture 8" descr="ipad_button_1.jpg"/>
          <p:cNvPicPr>
            <a:picLocks noChangeAspect="1"/>
          </p:cNvPicPr>
          <p:nvPr/>
        </p:nvPicPr>
        <p:blipFill>
          <a:blip r:embed="rId2"/>
          <a:srcRect t="13415" b="13415"/>
          <a:stretch>
            <a:fillRect/>
          </a:stretch>
        </p:blipFill>
        <p:spPr>
          <a:xfrm>
            <a:off x="1005840" y="2514600"/>
            <a:ext cx="1874519" cy="13716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05840" y="2514600"/>
            <a:ext cx="1874519" cy="1371600"/>
          </a:xfrm>
          <a:prstGeom prst="rect">
            <a:avLst/>
          </a:prstGeom>
          <a:noFill/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pad_button_2.jpg"/>
          <p:cNvPicPr>
            <a:picLocks noChangeAspect="1"/>
          </p:cNvPicPr>
          <p:nvPr/>
        </p:nvPicPr>
        <p:blipFill>
          <a:blip r:embed="rId3"/>
          <a:srcRect t="13415" b="13415"/>
          <a:stretch>
            <a:fillRect/>
          </a:stretch>
        </p:blipFill>
        <p:spPr>
          <a:xfrm>
            <a:off x="2999232" y="2514600"/>
            <a:ext cx="1874519" cy="13716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999232" y="2514600"/>
            <a:ext cx="1874519" cy="1371600"/>
          </a:xfrm>
          <a:prstGeom prst="rect">
            <a:avLst/>
          </a:prstGeom>
          <a:noFill/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3931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475569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R01 push-button &amp; S08 sorting scenes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475569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Anomalies: pin angle, cap colour, sorting / clog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475569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DC2626"/>
                </a:solidFill>
                <a:latin typeface="Calibri"/>
              </a:rPr>
              <a:t>Only ~256×256 — too coarse for subtle defects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230368" y="3246120"/>
            <a:ext cx="914400" cy="64008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3950208"/>
            <a:ext cx="1325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475569"/>
                </a:solidFill>
                <a:latin typeface="Calibri"/>
              </a:rPr>
              <a:t>too low-res to judge colour &amp; angle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554480"/>
            <a:ext cx="5074920" cy="4160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554480"/>
            <a:ext cx="507492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75564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563EB"/>
                </a:solidFill>
                <a:latin typeface="Calibri"/>
              </a:rPr>
              <a:t>PHASE 2 · OUR OWN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066543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Custom pen-conveyor rig</a:t>
            </a:r>
          </a:p>
        </p:txBody>
      </p:sp>
      <p:pic>
        <p:nvPicPr>
          <p:cNvPr id="20" name="Picture 19" descr="normal.jpg"/>
          <p:cNvPicPr>
            <a:picLocks noChangeAspect="1"/>
          </p:cNvPicPr>
          <p:nvPr/>
        </p:nvPicPr>
        <p:blipFill>
          <a:blip r:embed="rId4"/>
          <a:srcRect t="23958" b="23958"/>
          <a:stretch>
            <a:fillRect/>
          </a:stretch>
        </p:blipFill>
        <p:spPr>
          <a:xfrm>
            <a:off x="6537960" y="2514600"/>
            <a:ext cx="1481328" cy="13716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537960" y="2514600"/>
            <a:ext cx="1481328" cy="1371600"/>
          </a:xfrm>
          <a:prstGeom prst="rect">
            <a:avLst/>
          </a:prstGeom>
          <a:noFill/>
          <a:ln w="222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0" y="3657600"/>
            <a:ext cx="868680" cy="20116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657600"/>
            <a:ext cx="8686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NORMAL</a:t>
            </a:r>
          </a:p>
        </p:txBody>
      </p:sp>
      <p:pic>
        <p:nvPicPr>
          <p:cNvPr id="24" name="Picture 23" descr="anomaly_color.jpg"/>
          <p:cNvPicPr>
            <a:picLocks noChangeAspect="1"/>
          </p:cNvPicPr>
          <p:nvPr/>
        </p:nvPicPr>
        <p:blipFill>
          <a:blip r:embed="rId5"/>
          <a:srcRect t="23958" b="23958"/>
          <a:stretch>
            <a:fillRect/>
          </a:stretch>
        </p:blipFill>
        <p:spPr>
          <a:xfrm>
            <a:off x="8110728" y="2514600"/>
            <a:ext cx="1481328" cy="13716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110728" y="2514600"/>
            <a:ext cx="1481328" cy="1371600"/>
          </a:xfrm>
          <a:prstGeom prst="rect">
            <a:avLst/>
          </a:prstGeom>
          <a:noFill/>
          <a:ln w="222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56448" y="3657600"/>
            <a:ext cx="868680" cy="201168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56448" y="3657600"/>
            <a:ext cx="8686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COLOUR</a:t>
            </a:r>
          </a:p>
        </p:txBody>
      </p:sp>
      <p:pic>
        <p:nvPicPr>
          <p:cNvPr id="28" name="Picture 27" descr="anomaly_orient.jpg"/>
          <p:cNvPicPr>
            <a:picLocks noChangeAspect="1"/>
          </p:cNvPicPr>
          <p:nvPr/>
        </p:nvPicPr>
        <p:blipFill>
          <a:blip r:embed="rId6"/>
          <a:srcRect t="23958" b="23958"/>
          <a:stretch>
            <a:fillRect/>
          </a:stretch>
        </p:blipFill>
        <p:spPr>
          <a:xfrm>
            <a:off x="9683496" y="2514600"/>
            <a:ext cx="1481328" cy="137160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9683496" y="2514600"/>
            <a:ext cx="1481328" cy="1371600"/>
          </a:xfrm>
          <a:prstGeom prst="rect">
            <a:avLst/>
          </a:prstGeom>
          <a:noFill/>
          <a:ln w="222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729216" y="3657600"/>
            <a:ext cx="868680" cy="201168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29216" y="3657600"/>
            <a:ext cx="8686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ORIENT.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041648"/>
            <a:ext cx="4663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13 clips · recorded in 4K → 720×1280 for the API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7 controlled anomaly types · 3 identical pens · fixed camera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Full control over what is normal vs anomalous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VAD in Production/Assembly Lines  ·  Güler &amp; Türk  ·  CSE 496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18872" cy="6583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OUR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Calibri"/>
              </a:rPr>
              <a:t>Seven controlled anomaly types on the pen 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3456432" cy="2240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ormal.jpg"/>
          <p:cNvPicPr>
            <a:picLocks noChangeAspect="1"/>
          </p:cNvPicPr>
          <p:nvPr/>
        </p:nvPicPr>
        <p:blipFill>
          <a:blip r:embed="rId2"/>
          <a:srcRect t="39274" b="39274"/>
          <a:stretch>
            <a:fillRect/>
          </a:stretch>
        </p:blipFill>
        <p:spPr>
          <a:xfrm>
            <a:off x="886968" y="1709928"/>
            <a:ext cx="3236976" cy="1234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86968" y="1709928"/>
            <a:ext cx="3236976" cy="1234440"/>
          </a:xfrm>
          <a:prstGeom prst="rect">
            <a:avLst/>
          </a:prstGeom>
          <a:noFill/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3182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59669"/>
                </a:solidFill>
                <a:latin typeface="Calibri"/>
              </a:rPr>
              <a:t>NORMAL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00984"/>
            <a:ext cx="31821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Three identical pens, caps aligned, belt moving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456432" cy="2240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nomaly_color.jpg"/>
          <p:cNvPicPr>
            <a:picLocks noChangeAspect="1"/>
          </p:cNvPicPr>
          <p:nvPr/>
        </p:nvPicPr>
        <p:blipFill>
          <a:blip r:embed="rId3"/>
          <a:srcRect t="39274" b="39274"/>
          <a:stretch>
            <a:fillRect/>
          </a:stretch>
        </p:blipFill>
        <p:spPr>
          <a:xfrm>
            <a:off x="4434840" y="1709928"/>
            <a:ext cx="3236976" cy="12344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434840" y="1709928"/>
            <a:ext cx="3236976" cy="1234440"/>
          </a:xfrm>
          <a:prstGeom prst="rect">
            <a:avLst/>
          </a:prstGeom>
          <a:noFill/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3017520"/>
            <a:ext cx="3182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C2626"/>
                </a:solidFill>
                <a:latin typeface="Calibri"/>
              </a:rPr>
              <a:t>WRONG COLOUR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3300984"/>
            <a:ext cx="31821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One pen differs in colour from the others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72983" y="1600200"/>
            <a:ext cx="3456432" cy="2240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nomaly_orient.jpg"/>
          <p:cNvPicPr>
            <a:picLocks noChangeAspect="1"/>
          </p:cNvPicPr>
          <p:nvPr/>
        </p:nvPicPr>
        <p:blipFill>
          <a:blip r:embed="rId4"/>
          <a:srcRect t="39274" b="39274"/>
          <a:stretch>
            <a:fillRect/>
          </a:stretch>
        </p:blipFill>
        <p:spPr>
          <a:xfrm>
            <a:off x="7982711" y="1709928"/>
            <a:ext cx="3236976" cy="123444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982711" y="1709928"/>
            <a:ext cx="3236976" cy="1234440"/>
          </a:xfrm>
          <a:prstGeom prst="rect">
            <a:avLst/>
          </a:prstGeom>
          <a:noFill/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0144" y="3017520"/>
            <a:ext cx="3182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C2626"/>
                </a:solidFill>
                <a:latin typeface="Calibri"/>
              </a:rPr>
              <a:t>WRONG ORIENTATION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3300984"/>
            <a:ext cx="31821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A pen points the wrong way on the 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977639"/>
            <a:ext cx="3456432" cy="2240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nomaly_cap.jpg"/>
          <p:cNvPicPr>
            <a:picLocks noChangeAspect="1"/>
          </p:cNvPicPr>
          <p:nvPr/>
        </p:nvPicPr>
        <p:blipFill>
          <a:blip r:embed="rId5"/>
          <a:srcRect t="39274" b="39274"/>
          <a:stretch>
            <a:fillRect/>
          </a:stretch>
        </p:blipFill>
        <p:spPr>
          <a:xfrm>
            <a:off x="886968" y="4087368"/>
            <a:ext cx="3236976" cy="12344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86968" y="4087368"/>
            <a:ext cx="3236976" cy="1234440"/>
          </a:xfrm>
          <a:prstGeom prst="rect">
            <a:avLst/>
          </a:prstGeom>
          <a:noFill/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94959"/>
            <a:ext cx="3182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C2626"/>
                </a:solidFill>
                <a:latin typeface="Calibri"/>
              </a:rPr>
              <a:t>MISSING CAP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78424"/>
            <a:ext cx="31821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A pen is missing its cap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5112" y="3977639"/>
            <a:ext cx="3456432" cy="2240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nomaly_pen.jpg"/>
          <p:cNvPicPr>
            <a:picLocks noChangeAspect="1"/>
          </p:cNvPicPr>
          <p:nvPr/>
        </p:nvPicPr>
        <p:blipFill>
          <a:blip r:embed="rId6"/>
          <a:srcRect t="39274" b="39274"/>
          <a:stretch>
            <a:fillRect/>
          </a:stretch>
        </p:blipFill>
        <p:spPr>
          <a:xfrm>
            <a:off x="4434840" y="4087368"/>
            <a:ext cx="3236976" cy="123444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4434840" y="4087368"/>
            <a:ext cx="3236976" cy="1234440"/>
          </a:xfrm>
          <a:prstGeom prst="rect">
            <a:avLst/>
          </a:prstGeom>
          <a:noFill/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5394959"/>
            <a:ext cx="3182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C2626"/>
                </a:solidFill>
                <a:latin typeface="Calibri"/>
              </a:rPr>
              <a:t>MISSING PEN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5678424"/>
            <a:ext cx="31821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Fewer than three pens are present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72983" y="3977639"/>
            <a:ext cx="3456432" cy="2240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nomaly_temporal.jpg"/>
          <p:cNvPicPr>
            <a:picLocks noChangeAspect="1"/>
          </p:cNvPicPr>
          <p:nvPr/>
        </p:nvPicPr>
        <p:blipFill>
          <a:blip r:embed="rId7"/>
          <a:srcRect t="39274" b="39274"/>
          <a:stretch>
            <a:fillRect/>
          </a:stretch>
        </p:blipFill>
        <p:spPr>
          <a:xfrm>
            <a:off x="7982711" y="4087368"/>
            <a:ext cx="3236976" cy="123444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7982711" y="4087368"/>
            <a:ext cx="3236976" cy="1234440"/>
          </a:xfrm>
          <a:prstGeom prst="rect">
            <a:avLst/>
          </a:prstGeom>
          <a:noFill/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10144" y="5394959"/>
            <a:ext cx="3182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97706"/>
                </a:solidFill>
                <a:latin typeface="Calibri"/>
              </a:rPr>
              <a:t>TEMPORAL / MOTION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0144" y="5678424"/>
            <a:ext cx="31821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Calibri"/>
              </a:rPr>
              <a:t>Pens shift mid-clip while belt looks normal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19963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94A3B8"/>
                </a:solidFill>
                <a:latin typeface="Calibri"/>
              </a:rPr>
              <a:t>Belt-stop / freeze and a combined (orientation + missing-cap) case complete the 13 clips.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VAD in Production/Assembly Lines  ·  Güler &amp; Türk  ·  CSE 496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18872" cy="6583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OUR DATASET · IN 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Calibri"/>
              </a:rPr>
              <a:t>Sample clips from the pen-conveyor rig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Recorded in 4K, downscaled for the API. </a:t>
            </a:r>
            <a:r>
              <a:rPr sz="1300" b="1" i="0">
                <a:solidFill>
                  <a:srgbClr val="2563EB"/>
                </a:solidFill>
                <a:latin typeface="Calibri"/>
              </a:rPr>
              <a:t>Click a clip to play it.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Same fixed camera, three pens — only the anomaly changes.</a:t>
            </a:r>
          </a:p>
        </p:txBody>
      </p:sp>
      <p:pic>
        <p:nvPicPr>
          <p:cNvPr id="6" name="normal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77240" y="2011680"/>
            <a:ext cx="2331720" cy="39776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" y="2011680"/>
            <a:ext cx="2331720" cy="3977639"/>
          </a:xfrm>
          <a:prstGeom prst="rect">
            <a:avLst/>
          </a:prstGeom>
          <a:noFill/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" y="5660136"/>
            <a:ext cx="1143000" cy="256032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5660136"/>
            <a:ext cx="1143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NORMAL</a:t>
            </a:r>
          </a:p>
        </p:txBody>
      </p:sp>
      <p:pic>
        <p:nvPicPr>
          <p:cNvPr id="10" name="wrong_color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535680" y="2011680"/>
            <a:ext cx="2331720" cy="397763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535680" y="2011680"/>
            <a:ext cx="2331720" cy="3977639"/>
          </a:xfrm>
          <a:prstGeom prst="rect">
            <a:avLst/>
          </a:prstGeom>
          <a:noFill/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08832" y="5660136"/>
            <a:ext cx="1143000" cy="25603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8832" y="5660136"/>
            <a:ext cx="1143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COLOUR</a:t>
            </a:r>
          </a:p>
        </p:txBody>
      </p:sp>
      <p:pic>
        <p:nvPicPr>
          <p:cNvPr id="14" name="wrong_direction.mp4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6294120" y="2011680"/>
            <a:ext cx="2331720" cy="397763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294120" y="2011680"/>
            <a:ext cx="2331720" cy="3977639"/>
          </a:xfrm>
          <a:prstGeom prst="rect">
            <a:avLst/>
          </a:prstGeom>
          <a:noFill/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67272" y="5660136"/>
            <a:ext cx="1143000" cy="25603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7272" y="5660136"/>
            <a:ext cx="1143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ORIENT.</a:t>
            </a:r>
          </a:p>
        </p:txBody>
      </p:sp>
      <p:pic>
        <p:nvPicPr>
          <p:cNvPr id="18" name="temporal_anomaly.mp4">
            <a:hlinkClick r:id="" action="ppaction://media"/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9052559" y="2011680"/>
            <a:ext cx="2331720" cy="3977639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9052559" y="2011680"/>
            <a:ext cx="2331720" cy="3977639"/>
          </a:xfrm>
          <a:prstGeom prst="rect">
            <a:avLst/>
          </a:prstGeom>
          <a:noFill/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25711" y="5660136"/>
            <a:ext cx="1143000" cy="256032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5711" y="5660136"/>
            <a:ext cx="1143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TEMPORAL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14476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94A3B8"/>
                </a:solidFill>
                <a:latin typeface="Calibri"/>
              </a:rPr>
              <a:t>The temporal clip looks normal frame-by-frame — the anomaly is only in how the pens move over time.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VAD in Production/Assembly Lines  ·  Güler &amp; Türk  ·  CSE 496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18872" cy="6583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APPROACH 1 (ON IPAD BUTTONS)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Calibri"/>
              </a:rPr>
              <a:t>First idea: robustness through multi-persona voting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A single prompt was unstable. So many synthetic </a:t>
            </a:r>
            <a:r>
              <a:rPr sz="1400" b="1" i="0">
                <a:solidFill>
                  <a:srgbClr val="2563EB"/>
                </a:solidFill>
                <a:latin typeface="Calibri"/>
              </a:rPr>
              <a:t>"inspector" personas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 share the same rules but inspect the scene through a different lens, then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vote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 — the majority decides.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514600"/>
            <a:ext cx="260604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514600"/>
            <a:ext cx="260604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724912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Calibri"/>
              </a:rPr>
              <a:t>Naïve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200400"/>
            <a:ext cx="2240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Looks at obvious visuals — cap colour, which way the pins point.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514600"/>
            <a:ext cx="260604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514600"/>
            <a:ext cx="260604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8" y="2724912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Calibri"/>
              </a:rPr>
              <a:t>Mechanical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3200400"/>
            <a:ext cx="2240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Checks how the part sits and travels on the belt.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514600"/>
            <a:ext cx="260604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514600"/>
            <a:ext cx="260604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2724912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Calibri"/>
              </a:rPr>
              <a:t>Vision engineer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3200400"/>
            <a:ext cx="2240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Pixel-level cues: subtle colour shift, angle, geometry.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2514600"/>
            <a:ext cx="260604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2514600"/>
            <a:ext cx="2606040" cy="8229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0848" y="2724912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Calibri"/>
              </a:rPr>
              <a:t>Majority vote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3200400"/>
            <a:ext cx="2240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5 diverse voters + 1 consensus. A tie → LOW-confidence flag.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800600"/>
            <a:ext cx="1060704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800600"/>
            <a:ext cx="118872" cy="10058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956048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97706"/>
                </a:solidFill>
                <a:latin typeface="Calibri"/>
              </a:rPr>
              <a:t>Key finding: 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compact YES/NO formats caused systematic false negatives. Forcing an </a:t>
            </a:r>
            <a:r>
              <a:rPr sz="1300" b="1" i="0">
                <a:solidFill>
                  <a:srgbClr val="0F172A"/>
                </a:solidFill>
                <a:latin typeface="Calibri"/>
              </a:rPr>
              <a:t>"articulate-first"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 output (describe each frame, then decide) suppressed the model's bias toward "normal".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VAD in Production/Assembly Lines  ·  Güler &amp; Türk  ·  CSE 496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18872" cy="6583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THE ACADEMIC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Calibri"/>
              </a:rPr>
              <a:t>VERA: Verbalized Learning for VAD (CVPR 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Ye, Liu &amp; He — </a:t>
            </a:r>
            <a:r>
              <a:rPr sz="1400" b="0" i="1">
                <a:solidFill>
                  <a:srgbClr val="0F172A"/>
                </a:solidFill>
                <a:latin typeface="Calibri"/>
              </a:rPr>
              <a:t>Explainable VAD via Verbalized Learning of VLMs.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  Insight: a vague prompt gives only 53–65% AUC; concrete, </a:t>
            </a:r>
            <a:r>
              <a:rPr sz="1400" b="1" i="0">
                <a:solidFill>
                  <a:srgbClr val="2563EB"/>
                </a:solidFill>
                <a:latin typeface="Calibri"/>
              </a:rPr>
              <a:t>learned guiding questions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 do far better — with the model frozen.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514600"/>
            <a:ext cx="3456432" cy="2148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514600"/>
            <a:ext cx="3456432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2491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1 · Frozen VLM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No fine-tuning, no extra reasoning module. The model is adapted only through the prompt.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2514600"/>
            <a:ext cx="3456432" cy="2148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6552" y="2514600"/>
            <a:ext cx="3456432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72491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2 · Verbalized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320040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Questions are learnable: a learner answers, an optimiser rewrites them from mistakes — using only coarse labels.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2514600"/>
            <a:ext cx="3456432" cy="2148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5864" y="2514600"/>
            <a:ext cx="3456432" cy="8229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272491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3 · Coarse-to-fine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320040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Segment scores → scene-context ensemble → frame scores via temporal smoothing. SOTA on UCF-Crime &amp; XD-Violence.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983480"/>
            <a:ext cx="1060704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120640"/>
            <a:ext cx="10149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→  </a:t>
            </a:r>
            <a:r>
              <a:rPr sz="1350" b="0" i="0">
                <a:solidFill>
                  <a:srgbClr val="0F172A"/>
                </a:solidFill>
                <a:latin typeface="Calibri"/>
              </a:rPr>
              <a:t>We keep VERA's learner/optimiser question-learning core, but simplify it to </a:t>
            </a:r>
            <a:r>
              <a:rPr sz="1350" b="1" i="0">
                <a:solidFill>
                  <a:srgbClr val="0F172A"/>
                </a:solidFill>
                <a:latin typeface="Calibri"/>
              </a:rPr>
              <a:t>clip-level verdicts</a:t>
            </a:r>
            <a:r>
              <a:rPr sz="1350" b="0" i="0">
                <a:solidFill>
                  <a:srgbClr val="0F172A"/>
                </a:solidFill>
                <a:latin typeface="Calibri"/>
              </a:rPr>
              <a:t> for the factory setting  →  </a:t>
            </a:r>
            <a:r>
              <a:rPr sz="1350" b="1" i="0">
                <a:solidFill>
                  <a:srgbClr val="2563EB"/>
                </a:solidFill>
                <a:latin typeface="Calibri"/>
              </a:rPr>
              <a:t>VERA-lite.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VAD in Production/Assembly Lines  ·  Güler &amp; Türk  ·  CSE 496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18872" cy="6583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APPROACH 2 · OUR ADAPTATION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Calibri"/>
              </a:rPr>
              <a:t>The VERA-lite pipeline, step by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260604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260604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874519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Guiding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  <a:latin typeface="Calibri"/>
              </a:rPr>
              <a:t>Start from concrete yes/no questions, one per anomaly family (count, colour, orientation, cap, belt motion, intra-object motion).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91640"/>
            <a:ext cx="260604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691640"/>
            <a:ext cx="260604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03320" y="1874519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1874519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56032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Learner VLM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01752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  <a:latin typeface="Calibri"/>
              </a:rPr>
              <a:t>The frozen model watches the video and answers every question YES/NO with the visual evidence, then emits a structured JSON verdict.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691640"/>
            <a:ext cx="260604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691640"/>
            <a:ext cx="2606040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0" y="1874519"/>
            <a:ext cx="548640" cy="5486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874519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56032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Optimiser VLM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01752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  <a:latin typeface="Calibri"/>
              </a:rPr>
              <a:t>It reads the learner's mistakes and rewrites the questions — sharper wording, no weights touched. We ran it once (v2 → v3).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1691640"/>
            <a:ext cx="260604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69680" y="1691640"/>
            <a:ext cx="2606040" cy="8229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098280" y="1874519"/>
            <a:ext cx="548640" cy="5486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1874519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56032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Blind 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01752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  <a:latin typeface="Calibri"/>
              </a:rPr>
              <a:t>The learner NEVER sees the ground-truth label. An early leak was fixed; the first honest score was 0.77, then 0.92 after v3.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892040"/>
            <a:ext cx="10607040" cy="914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029200"/>
            <a:ext cx="10149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59669"/>
                </a:solidFill>
                <a:latin typeface="Calibri"/>
              </a:rPr>
              <a:t>Result of the loop:  </a:t>
            </a:r>
            <a:r>
              <a:rPr sz="1350" b="0" i="0">
                <a:solidFill>
                  <a:srgbClr val="0F172A"/>
                </a:solidFill>
                <a:latin typeface="Calibri"/>
              </a:rPr>
              <a:t>rewriting the questions from negative constraints to positive verification lifted blind accuracy from </a:t>
            </a:r>
            <a:r>
              <a:rPr sz="1350" b="1" i="0">
                <a:solidFill>
                  <a:srgbClr val="0F172A"/>
                </a:solidFill>
                <a:latin typeface="Calibri"/>
              </a:rPr>
              <a:t>0.77 → 0.92</a:t>
            </a:r>
            <a:r>
              <a:rPr sz="1350" b="0" i="0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VAD in Production/Assembly Lines  ·  Güler &amp; Türk  ·  CSE 496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18872" cy="6583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INSIDE THE OPTIMISER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Calibri"/>
              </a:rPr>
              <a:t>How the guiding questions were hardened (v2 → v3)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The optimiser noticed: </a:t>
            </a:r>
            <a:r>
              <a:rPr sz="1300" b="1" i="0">
                <a:solidFill>
                  <a:srgbClr val="2563EB"/>
                </a:solidFill>
                <a:latin typeface="Calibri"/>
              </a:rPr>
              <a:t>"VLMs struggle with logical negation."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  It shifted prompts from negative constraints to positive verification.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148840"/>
          <a:ext cx="10607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931920"/>
                <a:gridCol w="448056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Anomaly family</a:t>
                      </a:r>
                    </a:p>
                  </a:txBody>
                  <a:tcPr marL="109728" marR="91440" marT="54864" marB="54864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v2  (negated / weak)</a:t>
                      </a:r>
                    </a:p>
                  </a:txBody>
                  <a:tcPr marL="109728" marR="91440" marT="54864" marB="54864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v3  (positive / hardened)</a:t>
                      </a:r>
                    </a:p>
                  </a:txBody>
                  <a:tcPr marL="109728" marR="91440" marT="54864" marB="54864" anchor="ctr">
                    <a:solidFill>
                      <a:srgbClr val="2563EB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109728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475569"/>
                          </a:solidFill>
                          <a:latin typeface="Calibri"/>
                        </a:rPr>
                        <a:t>no missing pen and no empty gap</a:t>
                      </a:r>
                    </a:p>
                  </a:txBody>
                  <a:tcPr marL="109728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Calibri"/>
                        </a:rPr>
                        <a:t>exactly three pens in a single row</a:t>
                      </a:r>
                    </a:p>
                  </a:txBody>
                  <a:tcPr marL="109728" marR="91440" marT="54864" marB="54864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Calibri"/>
                        </a:rPr>
                        <a:t>Colour</a:t>
                      </a:r>
                    </a:p>
                  </a:txBody>
                  <a:tcPr marL="109728" marR="91440" marT="54864" marB="5486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475569"/>
                          </a:solidFill>
                          <a:latin typeface="Calibri"/>
                        </a:rPr>
                        <a:t>none differing in colour</a:t>
                      </a:r>
                    </a:p>
                  </a:txBody>
                  <a:tcPr marL="109728" marR="91440" marT="54864" marB="5486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Calibri"/>
                        </a:rPr>
                        <a:t>identical barrel &amp; cap colours, no mismatch</a:t>
                      </a:r>
                    </a:p>
                  </a:txBody>
                  <a:tcPr marL="109728" marR="91440" marT="54864" marB="54864" anchor="ctr"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Calibri"/>
                        </a:rPr>
                        <a:t>Belt motion</a:t>
                      </a:r>
                    </a:p>
                  </a:txBody>
                  <a:tcPr marL="109728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475569"/>
                          </a:solidFill>
                          <a:latin typeface="Calibri"/>
                        </a:rPr>
                        <a:t>without stopping, pausing, reversing</a:t>
                      </a:r>
                    </a:p>
                  </a:txBody>
                  <a:tcPr marL="109728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Calibri"/>
                        </a:rPr>
                        <a:t>advances at every moment, never halting even briefly (1–3 s)</a:t>
                      </a:r>
                    </a:p>
                  </a:txBody>
                  <a:tcPr marL="109728" marR="91440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2120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475569"/>
                </a:solidFill>
                <a:latin typeface="Calibri"/>
              </a:rPr>
              <a:t>Positive, concrete phrasing removed the model's blind spots on count, colour and belt-stop cases.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VAD in Production/Assembly Lines  ·  Güler &amp; Türk  ·  CSE 496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18872" cy="6583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Calibri"/>
              </a:rPr>
              <a:t>Inside a verdict — structured, auditable 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4297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For every clip the model returns structured JSON: a YES/NO answer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with the visual evidence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 for each guiding question, then the verdict, type, score and confidence.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200400"/>
            <a:ext cx="4297680" cy="1737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3200400"/>
            <a:ext cx="118872" cy="1737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383280"/>
            <a:ext cx="3886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On the wrong-colour clip, a single </a:t>
            </a:r>
            <a:r>
              <a:rPr sz="1300" b="1" i="0">
                <a:solidFill>
                  <a:srgbClr val="DC2626"/>
                </a:solidFill>
                <a:latin typeface="Calibri"/>
              </a:rPr>
              <a:t>"NO"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 on the colour question drives the decision. The per-question evidence makes the verdict </a:t>
            </a:r>
            <a:r>
              <a:rPr sz="1300" b="1" i="0">
                <a:solidFill>
                  <a:srgbClr val="0F172A"/>
                </a:solidFill>
                <a:latin typeface="Calibri"/>
              </a:rPr>
              <a:t>auditable on the factory floor.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554480"/>
            <a:ext cx="5989320" cy="452628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783080"/>
            <a:ext cx="55321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94A3B8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93C5FD"/>
                </a:solidFill>
                <a:latin typeface="Consolas"/>
              </a:rPr>
              <a:t>  "question_answers": [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  {q1 </a:t>
            </a:r>
            <a:r>
              <a:rPr sz="1250" b="1" i="0">
                <a:solidFill>
                  <a:srgbClr val="059669"/>
                </a:solidFill>
                <a:latin typeface="Consolas"/>
              </a:rPr>
              <a:t>"YES"</a:t>
            </a:r>
            <a:r>
              <a:rPr sz="1250" b="0" i="0">
                <a:solidFill>
                  <a:srgbClr val="CBD5E1"/>
                </a:solidFill>
                <a:latin typeface="Consolas"/>
              </a:rPr>
              <a:t>  three pens in a row}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  {q2 </a:t>
            </a:r>
            <a:r>
              <a:rPr sz="1250" b="1" i="0">
                <a:solidFill>
                  <a:srgbClr val="059669"/>
                </a:solidFill>
                <a:latin typeface="Consolas"/>
              </a:rPr>
              <a:t>"YES"</a:t>
            </a:r>
            <a:r>
              <a:rPr sz="1250" b="0" i="0">
                <a:solidFill>
                  <a:srgbClr val="CBD5E1"/>
                </a:solidFill>
                <a:latin typeface="Consolas"/>
              </a:rPr>
              <a:t>  caps aligned, same way}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  {q3 </a:t>
            </a:r>
            <a:r>
              <a:rPr sz="1250" b="1" i="0">
                <a:solidFill>
                  <a:srgbClr val="DC2626"/>
                </a:solidFill>
                <a:latin typeface="Consolas"/>
              </a:rPr>
              <a:t>"NO"</a:t>
            </a:r>
            <a:r>
              <a:rPr sz="1250" b="0" i="0">
                <a:solidFill>
                  <a:srgbClr val="FECACA"/>
                </a:solidFill>
                <a:latin typeface="Consolas"/>
              </a:rPr>
              <a:t>   leftmost pen is BLUE}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  {q4 </a:t>
            </a:r>
            <a:r>
              <a:rPr sz="1250" b="1" i="0">
                <a:solidFill>
                  <a:srgbClr val="059669"/>
                </a:solidFill>
                <a:latin typeface="Consolas"/>
              </a:rPr>
              <a:t>"YES"</a:t>
            </a:r>
            <a:r>
              <a:rPr sz="1250" b="0" i="0">
                <a:solidFill>
                  <a:srgbClr val="CBD5E1"/>
                </a:solidFill>
                <a:latin typeface="Consolas"/>
              </a:rPr>
              <a:t>  all capped, similar length}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  {q5 </a:t>
            </a:r>
            <a:r>
              <a:rPr sz="1250" b="1" i="0">
                <a:solidFill>
                  <a:srgbClr val="059669"/>
                </a:solidFill>
                <a:latin typeface="Consolas"/>
              </a:rPr>
              <a:t>"YES"</a:t>
            </a:r>
            <a:r>
              <a:rPr sz="1250" b="0" i="0">
                <a:solidFill>
                  <a:srgbClr val="CBD5E1"/>
                </a:solidFill>
                <a:latin typeface="Consolas"/>
              </a:rPr>
              <a:t>  board moves, no stop}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  {q6 </a:t>
            </a:r>
            <a:r>
              <a:rPr sz="1250" b="1" i="0">
                <a:solidFill>
                  <a:srgbClr val="059669"/>
                </a:solidFill>
                <a:latin typeface="Consolas"/>
              </a:rPr>
              <a:t>"YES"</a:t>
            </a:r>
            <a:r>
              <a:rPr sz="1250" b="0" i="0">
                <a:solidFill>
                  <a:srgbClr val="CBD5E1"/>
                </a:solidFill>
                <a:latin typeface="Consolas"/>
              </a:rPr>
              <a:t>  pens fixed to the board}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93C5FD"/>
                </a:solidFill>
                <a:latin typeface="Consolas"/>
              </a:rPr>
              <a:t>  ],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93C5FD"/>
                </a:solidFill>
                <a:latin typeface="Consolas"/>
              </a:rPr>
              <a:t>  "verdict":      </a:t>
            </a:r>
            <a:r>
              <a:rPr sz="1250" b="1" i="0">
                <a:solidFill>
                  <a:srgbClr val="DC2626"/>
                </a:solidFill>
                <a:latin typeface="Consolas"/>
              </a:rPr>
              <a:t>"ANOMALY"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93C5FD"/>
                </a:solidFill>
                <a:latin typeface="Consolas"/>
              </a:rPr>
              <a:t>  "anomaly_type": </a:t>
            </a:r>
            <a:r>
              <a:rPr sz="1250" b="0" i="0">
                <a:solidFill>
                  <a:srgbClr val="D97706"/>
                </a:solidFill>
                <a:latin typeface="Consolas"/>
              </a:rPr>
              <a:t>"wrong_color"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93C5FD"/>
                </a:solidFill>
                <a:latin typeface="Consolas"/>
              </a:rPr>
              <a:t>  "anomaly_score":</a:t>
            </a:r>
            <a:r>
              <a:rPr sz="1250" b="0" i="0">
                <a:solidFill>
                  <a:srgbClr val="D97706"/>
                </a:solidFill>
                <a:latin typeface="Consolas"/>
              </a:rPr>
              <a:t> 1.0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93C5FD"/>
                </a:solidFill>
                <a:latin typeface="Consolas"/>
              </a:rPr>
              <a:t>  "confidence":   </a:t>
            </a:r>
            <a:r>
              <a:rPr sz="1250" b="0" i="0">
                <a:solidFill>
                  <a:srgbClr val="D97706"/>
                </a:solidFill>
                <a:latin typeface="Consolas"/>
              </a:rPr>
              <a:t>"HIGH"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94A3B8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6099048"/>
            <a:ext cx="5989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94A3B8"/>
                </a:solidFill>
                <a:latin typeface="Calibri"/>
              </a:rPr>
              <a:t>Verbatim learner output (blind v3 run) — abbreviated for display.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VAD in Production/Assembly Lines  ·  Güler &amp; Türk  ·  CSE 496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18872" cy="6583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Calibri"/>
              </a:rPr>
              <a:t>Three ways we fed the clip to the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3456432" cy="3429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3456432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71015" y="2331720"/>
            <a:ext cx="2468880" cy="4572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45335" y="2404872"/>
            <a:ext cx="10972" cy="3108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19655" y="2404872"/>
            <a:ext cx="10972" cy="3108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93976" y="2404872"/>
            <a:ext cx="10972" cy="3108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68296" y="2404872"/>
            <a:ext cx="10972" cy="3108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42615" y="2404872"/>
            <a:ext cx="10972" cy="3108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16936" y="2404872"/>
            <a:ext cx="10972" cy="3108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91256" y="2404872"/>
            <a:ext cx="10972" cy="3108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65576" y="2404872"/>
            <a:ext cx="10972" cy="3108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2304287" y="2697480"/>
            <a:ext cx="402336" cy="457200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246120"/>
            <a:ext cx="3456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475569"/>
                </a:solidFill>
                <a:latin typeface="Calibri"/>
              </a:rPr>
              <a:t>one continuous stream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13632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Continuous video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61104"/>
            <a:ext cx="299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  <a:latin typeface="Calibri"/>
              </a:rPr>
              <a:t>Send the whole clip; the VLM samples a few frames internally.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736592"/>
            <a:ext cx="2999232" cy="25603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736592"/>
            <a:ext cx="29992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12/13 · misses temporal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5112" y="1645920"/>
            <a:ext cx="3456432" cy="3429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5112" y="1645920"/>
            <a:ext cx="3456432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00016" y="2468880"/>
            <a:ext cx="566928" cy="566928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13248" y="2468880"/>
            <a:ext cx="566928" cy="566928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26480" y="2468880"/>
            <a:ext cx="566928" cy="566928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39712" y="2468880"/>
            <a:ext cx="566928" cy="566928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25112" y="3246120"/>
            <a:ext cx="3456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475569"/>
                </a:solidFill>
                <a:latin typeface="Calibri"/>
              </a:rPr>
              <a:t>N discrete frames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3913632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Dense frames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4261104"/>
            <a:ext cx="299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  <a:latin typeface="Calibri"/>
              </a:rPr>
              <a:t>Extract N evenly-spaced frames, send them as separate images.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53712" y="4736592"/>
            <a:ext cx="2999232" cy="256032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4736592"/>
            <a:ext cx="29992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11/13 · catches temporal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72983" y="1645920"/>
            <a:ext cx="3456432" cy="3429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72983" y="1645920"/>
            <a:ext cx="3456432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grid_tempor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8690" y="2240280"/>
            <a:ext cx="745018" cy="132588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9228690" y="2240280"/>
            <a:ext cx="745018" cy="1325880"/>
          </a:xfrm>
          <a:prstGeom prst="rect">
            <a:avLst/>
          </a:prstGeom>
          <a:noFill/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2983" y="3584448"/>
            <a:ext cx="3456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475569"/>
                </a:solidFill>
                <a:latin typeface="Calibri"/>
              </a:rPr>
              <a:t>3×3 montage we actually sent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01583" y="3913632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Temporal grid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01583" y="4261104"/>
            <a:ext cx="299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  <a:latin typeface="Calibri"/>
              </a:rPr>
              <a:t>Tile N time-ordered frames into ONE montage image, single pass.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01583" y="4736592"/>
            <a:ext cx="2999232" cy="25603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3" y="4736592"/>
            <a:ext cx="29992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negative · ≈ dense + a false positive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5285232"/>
            <a:ext cx="10607040" cy="8686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" y="5285232"/>
            <a:ext cx="118872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" y="5413248"/>
            <a:ext cx="10149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97706"/>
                </a:solidFill>
                <a:latin typeface="Calibri"/>
              </a:rPr>
              <a:t>The trade-off is intrinsic: 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continuous (video) catches edges &amp; belt-stop; discrete (frames / grid) catches intra-object motion. We confirmed it on 3 discrete variants — </a:t>
            </a:r>
            <a:r>
              <a:rPr sz="1300" b="1" i="0">
                <a:solidFill>
                  <a:srgbClr val="0F172A"/>
                </a:solidFill>
                <a:latin typeface="Calibri"/>
              </a:rPr>
              <a:t>no single representation reaches 13/13.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VAD in Production/Assembly Lines  ·  Güler &amp; Türk  ·  CSE 496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18872" cy="6583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Calibri"/>
              </a:rPr>
              <a:t>Disjoint blind spots → combine into an 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The hard case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(temporal): pens shift mid-clip while the belt moves normally.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Full-video input misses it — the model samples only a few internal frames. Dense frames catch it but miss some subtle cases. Their blind spots are </a:t>
            </a:r>
            <a:r>
              <a:rPr sz="1300" b="1" i="0">
                <a:solidFill>
                  <a:srgbClr val="2563EB"/>
                </a:solidFill>
                <a:latin typeface="Calibri"/>
              </a:rPr>
              <a:t>disjoint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788920"/>
          <a:ext cx="64465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17320"/>
                <a:gridCol w="1097280"/>
                <a:gridCol w="1188720"/>
              </a:tblGrid>
              <a:tr h="582930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Input method</a:t>
                      </a:r>
                    </a:p>
                  </a:txBody>
                  <a:tcPr marL="91440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91440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False pos.</a:t>
                      </a:r>
                    </a:p>
                  </a:txBody>
                  <a:tcPr marL="91440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Temporal?</a:t>
                      </a:r>
                    </a:p>
                  </a:txBody>
                  <a:tcPr marL="91440" marT="36576" marB="36576" anchor="ctr">
                    <a:solidFill>
                      <a:srgbClr val="0F172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Calibri"/>
                        </a:rPr>
                        <a:t>Video (continuous)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12/13 (0.92)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DC262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91440" marT="36576" marB="36576" anchor="ctr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Calibri"/>
                        </a:rPr>
                        <a:t>Dense frames (16f)</a:t>
                      </a:r>
                    </a:p>
                  </a:txBody>
                  <a:tcPr marL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11/13 (0.85)</a:t>
                      </a:r>
                    </a:p>
                  </a:txBody>
                  <a:tcPr marL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59669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1440" marT="36576" marB="36576" anchor="ctr">
                    <a:solidFill>
                      <a:srgbClr val="F1F5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Calibri"/>
                        </a:rPr>
                        <a:t>OR-ensemble (video ∨ dense)</a:t>
                      </a:r>
                    </a:p>
                  </a:txBody>
                  <a:tcPr marL="91440" marT="36576" marB="36576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Calibri"/>
                        </a:rPr>
                        <a:t>13/13 (1.00)</a:t>
                      </a:r>
                    </a:p>
                  </a:txBody>
                  <a:tcPr marL="91440" marT="36576" marB="36576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T="36576" marB="36576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59669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1440" marT="36576" marB="36576" anchor="ctr"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25780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475569"/>
                </a:solidFill>
                <a:latin typeface="Calibri"/>
              </a:rPr>
              <a:t>Two views, disjoint blind spots → the union (OR) solves every clip with zero false alarms.</a:t>
            </a:r>
          </a:p>
        </p:txBody>
      </p:sp>
      <p:pic>
        <p:nvPicPr>
          <p:cNvPr id="8" name="Picture 7" descr="fig_clip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318255"/>
            <a:ext cx="3931920" cy="113588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52360" y="3318255"/>
            <a:ext cx="3931920" cy="1135888"/>
          </a:xfrm>
          <a:prstGeom prst="rect">
            <a:avLst/>
          </a:prstGeom>
          <a:noFill/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589788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94A3B8"/>
                </a:solidFill>
                <a:latin typeface="Calibri"/>
              </a:rPr>
              <a:t>Per-clip correctness: only the ensemble is fully green.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VAD in Production/Assembly Lines  ·  Güler &amp; Türk  ·  CSE 496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18872" cy="6583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Calibri"/>
              </a:rPr>
              <a:t>Accuracy, speed and determinism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2606040" cy="1325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2606040" cy="8229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59669"/>
                </a:solidFill>
                <a:latin typeface="Calibri"/>
              </a:rPr>
              <a:t>13/13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32304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475569"/>
                </a:solidFill>
                <a:latin typeface="Calibri"/>
              </a:rPr>
              <a:t>Ensemble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00200"/>
            <a:ext cx="2606040" cy="1325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600200"/>
            <a:ext cx="260604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78308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563EB"/>
                </a:solidFill>
                <a:latin typeface="Calib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32304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475569"/>
                </a:solidFill>
                <a:latin typeface="Calibri"/>
              </a:rPr>
              <a:t>False positives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00200"/>
            <a:ext cx="2606040" cy="1325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600200"/>
            <a:ext cx="2606040" cy="8229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78308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Calibri"/>
              </a:rPr>
              <a:t>0.846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432304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475569"/>
                </a:solidFill>
                <a:latin typeface="Calibri"/>
              </a:rPr>
              <a:t>Repeatable single-view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600200"/>
            <a:ext cx="2606040" cy="1325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0" y="1600200"/>
            <a:ext cx="2606040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78308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D97706"/>
                </a:solidFill>
                <a:latin typeface="Calibri"/>
              </a:rPr>
              <a:t>−41%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432304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475569"/>
                </a:solidFill>
                <a:latin typeface="Calibri"/>
              </a:rPr>
              <a:t>Latency after tuning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20040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F172A"/>
                </a:solidFill>
                <a:latin typeface="Calibri"/>
              </a:rPr>
              <a:t>Speed &amp; determinism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611880"/>
            <a:ext cx="51206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0F172A"/>
                </a:solidFill>
                <a:latin typeface="Calibri"/>
              </a:rPr>
              <a:t>qwen3.6-plus is a reasoning model — it once spent 15,684 reasoning tokens, spiking latency to 85.2 s/clip.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0F172A"/>
                </a:solidFill>
                <a:latin typeface="Calibri"/>
              </a:rPr>
              <a:t>Capping thinking_budget = 2000 → 49.9 s/clip (−41%).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0F172A"/>
                </a:solidFill>
                <a:latin typeface="Calibri"/>
              </a:rPr>
              <a:t>Bonus: the cap made it deterministic. Verdict flips across 3 runs dropped from 2 clips to 0.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0F172A"/>
                </a:solidFill>
                <a:latin typeface="Calibri"/>
              </a:rPr>
              <a:t>Honest, repeatable accuracy is 0.846 (11/13 every run) — not the lucky single-run 0.92.</a:t>
            </a:r>
          </a:p>
        </p:txBody>
      </p:sp>
      <p:pic>
        <p:nvPicPr>
          <p:cNvPr id="23" name="Picture 22" descr="fig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715629"/>
            <a:ext cx="2560320" cy="1575581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172200" y="3715629"/>
            <a:ext cx="2560320" cy="1575581"/>
          </a:xfrm>
          <a:prstGeom prst="rect">
            <a:avLst/>
          </a:prstGeom>
          <a:noFill/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ig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3831336"/>
            <a:ext cx="2560320" cy="1344168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823960" y="3831336"/>
            <a:ext cx="2560320" cy="1344168"/>
          </a:xfrm>
          <a:prstGeom prst="rect">
            <a:avLst/>
          </a:prstGeom>
          <a:noFill/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VAD in Production/Assembly Lines  ·  Güler &amp; Türk  ·  CSE 496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18872" cy="6583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HONEST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Calibri"/>
              </a:rPr>
              <a:t>Limitations &amp; open problems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525780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91440" cy="1371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764792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Small, single-scene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148840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13 clips on one rig — results are indicative, not statistically conclusive. A larger, multi-scene set is needed.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1645920"/>
            <a:ext cx="525780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79" y="1645920"/>
            <a:ext cx="91440" cy="1371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64792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LLM non-determinism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148840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The same input could flip the verdict; we needed a thinking-budget cap to stabilise it. True accuracy (0.846) is below the lucky 0.92.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27248"/>
            <a:ext cx="525780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127248"/>
            <a:ext cx="91440" cy="1371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324612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No single view catches 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3630168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Continuous video misses intra-object motion; dense frames miss subtle cases. The 13/13 needs an ensemble of two API calls.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127248"/>
            <a:ext cx="525780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79" y="3127248"/>
            <a:ext cx="91440" cy="1371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324612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Not real-time / cloud-bound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3630168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~50 s per clip, depends on a paid API and internet. Raises latency, cost and data-privacy concerns for a real factory.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608576"/>
            <a:ext cx="525780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608576"/>
            <a:ext cx="91440" cy="1371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1" y="472744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Limited model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1" y="5111496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Other models were inaccessible (qwen-vl-max-latest → 403, qwen3.7 → 400); results tie to one vendor model version.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79" y="4608576"/>
            <a:ext cx="525780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79" y="4608576"/>
            <a:ext cx="91440" cy="1371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472744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Question tuning sees labels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5111496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Calibri"/>
              </a:rPr>
              <a:t>The optimiser used labels on a tiny set — risk of overfitting the questions to these specific clips.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VAD in Production/Assembly Lines  ·  Güler &amp; Türk  ·  CSE 496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563EB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14300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Explainable VAD without any labelled training data is viable for industry.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5120640" cy="3154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5120640" cy="8229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4203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59669"/>
                </a:solidFill>
                <a:latin typeface="Calibri"/>
              </a:rPr>
              <a:t>WHAT WE SHOWED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71800"/>
            <a:ext cx="4709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59669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0F172A"/>
                </a:solidFill>
                <a:latin typeface="Calibri"/>
              </a:rPr>
              <a:t>A frozen VLM + learned guiding questions detects fine-grained line anomalies, zero training.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59669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0F172A"/>
                </a:solidFill>
                <a:latin typeface="Calibri"/>
              </a:rPr>
              <a:t>Every verdict is a human-readable, auditable JSON.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59669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0F172A"/>
                </a:solidFill>
                <a:latin typeface="Calibri"/>
              </a:rPr>
              <a:t>A video∨dense ensemble reaches 13/13 with 0 false alarms.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59669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0F172A"/>
                </a:solidFill>
                <a:latin typeface="Calibri"/>
              </a:rPr>
              <a:t>A thinking-budget cap makes it 41% faster and deterministic.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2331720"/>
            <a:ext cx="5394960" cy="3154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2331720"/>
            <a:ext cx="539496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FUTURE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971800"/>
            <a:ext cx="4983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0F172A"/>
                </a:solidFill>
                <a:latin typeface="Calibri"/>
              </a:rPr>
              <a:t>Cascade: a cheap CV detector first, the VLM only on flagged segments → real-time &amp; cheaper.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0F172A"/>
                </a:solidFill>
                <a:latin typeface="Calibri"/>
              </a:rPr>
              <a:t>Larger, multi-scene dataset for statistically solid numbers.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0F172A"/>
                </a:solidFill>
                <a:latin typeface="Calibri"/>
              </a:rPr>
              <a:t>On-prem / open VLM to remove cloud cost and privacy concerns.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0F172A"/>
                </a:solidFill>
                <a:latin typeface="Calibri"/>
              </a:rPr>
              <a:t>Automate the dense+video ensemble into one call.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Thank you — questions welcome.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VAD in Production/Assembly Lines  ·  Güler &amp; Türk  ·  CSE 496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